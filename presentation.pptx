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73498f5c1f40ac" /><Relationship Type="http://schemas.openxmlformats.org/officeDocument/2006/relationships/extended-properties" Target="/docProps/app.xml" Id="Rd811e60bf8884875" /><Relationship Type="http://schemas.openxmlformats.org/officeDocument/2006/relationships/officeDocument" Target="/ppt/presentation.xml" Id="R19e317d4958f4c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3117fb13def40f9"/>
  </p:sldMasterIdLst>
  <p:notesMasterIdLst>
    <p:notesMasterId xmlns:r="http://schemas.openxmlformats.org/officeDocument/2006/relationships" r:id="Rf9186aed6d4d4eaf"/>
  </p:notesMasterIdLst>
  <p:sldIdLst>
    <p:sldId xmlns:r="http://schemas.openxmlformats.org/officeDocument/2006/relationships" id="256" r:id="Rd19bf956fb0c41b9"/>
    <p:sldId xmlns:r="http://schemas.openxmlformats.org/officeDocument/2006/relationships" id="257" r:id="R799bb543b9284033"/>
    <p:sldId xmlns:r="http://schemas.openxmlformats.org/officeDocument/2006/relationships" id="258" r:id="Rfeda1d23f5114a8f"/>
    <p:sldId xmlns:r="http://schemas.openxmlformats.org/officeDocument/2006/relationships" id="259" r:id="Rb31ebce8f0754cc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e477e06a524358" /><Relationship Type="http://schemas.openxmlformats.org/officeDocument/2006/relationships/slideMaster" Target="/ppt/slideMasters/slideMaster1.xml" Id="Ra3117fb13def40f9" /><Relationship Type="http://schemas.openxmlformats.org/officeDocument/2006/relationships/notesMaster" Target="/ppt/notesMasters/notesMaster1.xml" Id="Rf9186aed6d4d4eaf" /><Relationship Type="http://schemas.openxmlformats.org/officeDocument/2006/relationships/presProps" Target="/ppt/presProps.xml" Id="R03c595605e5843ec" /><Relationship Type="http://schemas.openxmlformats.org/officeDocument/2006/relationships/tableStyles" Target="/ppt/tableStyles.xml" Id="Rf4e0848eef764d82" /><Relationship Type="http://schemas.openxmlformats.org/officeDocument/2006/relationships/slide" Target="/ppt/slides/slide1.xml" Id="Rd19bf956fb0c41b9" /><Relationship Type="http://schemas.openxmlformats.org/officeDocument/2006/relationships/slide" Target="/ppt/slides/slide2.xml" Id="R799bb543b9284033" /><Relationship Type="http://schemas.openxmlformats.org/officeDocument/2006/relationships/slide" Target="/ppt/slides/slide3.xml" Id="Rfeda1d23f5114a8f" /><Relationship Type="http://schemas.openxmlformats.org/officeDocument/2006/relationships/slide" Target="/ppt/slides/slide4.xml" Id="Rb31ebce8f0754c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9700fadbb54f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cd5fee9ce34967" /><Relationship Type="http://schemas.openxmlformats.org/officeDocument/2006/relationships/notesMaster" Target="/ppt/notesMasters/notesMaster1.xml" Id="R841c195be6f145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cd7c0abceae4d4c" /><Relationship Type="http://schemas.openxmlformats.org/officeDocument/2006/relationships/notesMaster" Target="/ppt/notesMasters/notesMaster1.xml" Id="Re37b995de1b94c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0c095a5abed4f34" /><Relationship Type="http://schemas.openxmlformats.org/officeDocument/2006/relationships/notesMaster" Target="/ppt/notesMasters/notesMaster1.xml" Id="Rdef57b6353394e1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e987a50e214492" /><Relationship Type="http://schemas.openxmlformats.org/officeDocument/2006/relationships/notesMaster" Target="/ppt/notesMasters/notesMaster1.xml" Id="R273a623c4b6647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各位老师好。Day 2 我们做的是裂缝照片初筛，不是结构安全鉴定。四万张真实图已经完成数据检查。SmallCNN 准确率达到 81.3%，但在一百五十张真实裂缝中漏掉四十三张，所以今天的重点是：高准确率不能替代漏检分析。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course/zh-CN/day-02-vision/01-problem.md</a:t>
            </a:r>
          </a:p>
          <a:p xmlns:a="http://schemas.openxmlformats.org/drawingml/2006/main">
            <a:r>
              <a:t>Wikimedia Commons: Cracks in concrete - geograph.org.uk - 706423.jpg</a:t>
            </a:r>
          </a:p>
          <a:p xmlns:a="http://schemas.openxmlformats.org/drawingml/2006/main">
            <a:r>
              <a:t>student-work/day-02-concrete/runs/cnn.json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看证据链。指定数据两个类别各二万张，检查通过；主实验固定种子，从每类抽六百张，形成九百训练、三百测试。三个逻辑测试全部通过。网络从三乘六十四乘六十四，经过两次池化得到十六乘十六乘十六，展平四千零九十六，再输出两个 logits。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student-work/day-02-concrete/train.py::verify_real_data, balanced_split_indices</a:t>
            </a:r>
          </a:p>
          <a:p xmlns:a="http://schemas.openxmlformats.org/drawingml/2006/main">
            <a:r>
              <a:t>student-work/day-02-concrete/models.py</a:t>
            </a:r>
          </a:p>
          <a:p xmlns:a="http://schemas.openxmlformats.org/drawingml/2006/main">
            <a:r>
              <a:t>student-work/day-02-concrete/tests/test_models.py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两种方法使用完全相同的子集、划分和指标。基线因为平衡训练集并列而全判 crack，所以召回一百、误报一百五十。CNN 把误报降到十三并提高总体准确率，却漏掉四十三张裂缝。右侧是程序真实生成的前六个错误样本，不是装饰图；它让分数回到具体输入。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student-work/day-02-concrete/runs/baseline.json</a:t>
            </a:r>
          </a:p>
          <a:p xmlns:a="http://schemas.openxmlformats.org/drawingml/2006/main">
            <a:r>
              <a:t>student-work/day-02-concrete/runs/cnn.json</a:t>
            </a:r>
          </a:p>
          <a:p xmlns:a="http://schemas.openxmlformats.org/drawingml/2006/main">
            <a:r>
              <a:t>student-work/day-02-concrete/runs/cnn-errors.png</a:t>
            </a:r>
          </a:p>
          <a:p xmlns:a="http://schemas.openxmlformats.org/drawingml/2006/main">
            <a:r>
              <a:t>student-work/day-02-concrete/train.py::majority_baseline, confusion_counts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看第一张真实假阴性，裂纹肉眼明显，但模型仍判成没有裂缝。我们只能描述观察，不能编造原因。与仓库教练相比，本套材料的差异不是绕过证据标准，而是把教练不负责的讲解、讲稿和追问整合起来。这个差异来自技能边界、代码实现和真实运行三方对照。下一步应在训练段内部建验证集，用 recall 选择轮数、权重或阈值，测试集最后只看一次。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student-work/day-02-concrete/runs/cnn.json::first_errors[0]</a:t>
            </a:r>
          </a:p>
          <a:p xmlns:a="http://schemas.openxmlformats.org/drawingml/2006/main">
            <a:r>
              <a:t>student-work/day-02-concrete/data/raw/Positive/09570.jpg</a:t>
            </a:r>
          </a:p>
          <a:p xmlns:a="http://schemas.openxmlformats.org/drawingml/2006/main">
            <a:r>
              <a:t>skills/student-learning-coach/SKILL.md</a:t>
            </a:r>
          </a:p>
          <a:p xmlns:a="http://schemas.openxmlformats.org/drawingml/2006/main">
            <a:r>
              <a:t>course/zh-CN/day-02-vision/02-success-criteria.md</a:t>
            </a:r>
          </a:p>
          <a:p xmlns:a="http://schemas.openxmlformats.org/drawingml/2006/main">
            <a:r>
              <a:t>student-work/day-02-concrete/report.md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99f8f8c81f464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1c987970cb4056" /><Relationship Type="http://schemas.openxmlformats.org/officeDocument/2006/relationships/slideLayout" Target="/ppt/slideLayouts/slideLayout1.xml" Id="Rdc589161f9c745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589161f9c745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c1a676f29747d7" /><Relationship Type="http://schemas.openxmlformats.org/officeDocument/2006/relationships/image" Target="/ppt/media/image.jpeg" Id="Rea295320058b47b6" /><Relationship Type="http://schemas.openxmlformats.org/officeDocument/2006/relationships/notesSlide" Target="/ppt/notesSlides/notesSlide1.xml" Id="Rd62a9e9899714b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49768781c4fba" /><Relationship Type="http://schemas.openxmlformats.org/officeDocument/2006/relationships/notesSlide" Target="/ppt/notesSlides/notesSlide2.xml" Id="R0a7b0972fb004a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bede5928dd48c1" /><Relationship Type="http://schemas.openxmlformats.org/officeDocument/2006/relationships/image" Target="/ppt/media/image.png" Id="R14ae22ec0ecb4fc3" /><Relationship Type="http://schemas.openxmlformats.org/officeDocument/2006/relationships/notesSlide" Target="/ppt/notesSlides/notesSlide3.xml" Id="R36d3720b6ea141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38cb56a3ae4934" /><Relationship Type="http://schemas.openxmlformats.org/officeDocument/2006/relationships/image" Target="/ppt/media/image2.jpeg" Id="Rfb54072f65c3468d" /><Relationship Type="http://schemas.openxmlformats.org/officeDocument/2006/relationships/notesSlide" Target="/ppt/notesSlides/notesSlide4.xml" Id="R98da463ec7d546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3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295320058b47b6"/>
          <a:srcRect xmlns:a="http://schemas.openxmlformats.org/drawingml/2006/main" l="741" t="0" r="74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0"/>
            <a:ext cx="5067300" cy="6858000"/>
          </a:xfrm>
          <a:prstGeom xmlns:a="http://schemas.openxmlformats.org/drawingml/2006/main" prst="roundRect">
            <a:avLst>
              <a:gd name="adj" fmla="val 2256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F9240D-94FD-4B20-A97C-708CBB32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0"/>
            <a:ext cx="914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336"/>
          </a:solidFill>
          <a:ln xmlns:a="http://schemas.openxmlformats.org/drawingml/2006/main" w="0">
            <a:solidFill>
              <a:srgbClr val="1733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6F6EB0-3C1F-45E3-9BA9-BADCB854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7A24"/>
                </a:solidFill>
              </a:defRPr>
            </a:pPr>
            <a:r>
              <a:rPr sz="1200" b="1">
                <a:solidFill>
                  <a:srgbClr val="C97A24"/>
                </a:solidFill>
              </a:rPr>
              <a:t>DAY 2 · 真实计算机视觉实验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FB81E7-CFD7-4269-9A82-A43F64DF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裂缝照片初筛：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81.3% 准确率仍漏掉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43 / 150 张裂缝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ADCC19-7EC4-4396-B34A-C1342F93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242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EFEA"/>
                </a:solidFill>
              </a:defRPr>
            </a:pPr>
            <a:r>
              <a:rPr sz="1500" b="1">
                <a:solidFill>
                  <a:srgbClr val="D9EFEA"/>
                </a:solidFill>
              </a:rPr>
              <a:t>不是结构安全鉴定，而是人工复核优先级工具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02653C-B16A-4AC0-8431-311002728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71950"/>
            <a:ext cx="1428750" cy="0"/>
          </a:xfrm>
          <a:prstGeom xmlns:a="http://schemas.openxmlformats.org/drawingml/2006/main" prst="line">
            <a:avLst/>
          </a:prstGeom>
          <a:ln xmlns:a="http://schemas.openxmlformats.org/drawingml/2006/main" w="47625">
            <a:solidFill>
              <a:srgbClr val="C97A2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5BC7CF-A55F-4246-9DE9-558E8954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76750"/>
            <a:ext cx="1600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40,000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AD7900-91E0-4F8E-B447-CEDBF5B0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7680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CBC8"/>
                </a:solidFill>
              </a:defRPr>
            </a:pPr>
            <a:r>
              <a:rPr sz="1050" b="1">
                <a:solidFill>
                  <a:srgbClr val="B8CBC8"/>
                </a:solidFill>
              </a:rPr>
              <a:t>真实图片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361732-66DF-44F8-A2A0-457AA33B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33900"/>
            <a:ext cx="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E6E6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DD9C05-028D-4F47-A801-8848905C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476750"/>
            <a:ext cx="1600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81.3%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441639-CB85-42AF-843B-0B0C74AD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87680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CBC8"/>
                </a:solidFill>
              </a:defRPr>
            </a:pPr>
            <a:r>
              <a:rPr sz="1050" b="1">
                <a:solidFill>
                  <a:srgbClr val="B8CBC8"/>
                </a:solidFill>
              </a:rPr>
              <a:t>CNN accuracy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04B14B-8CEE-4C68-A008-1EFB80BE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76750"/>
            <a:ext cx="1600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BE4E0"/>
                </a:solidFill>
              </a:defRPr>
            </a:pPr>
            <a:r>
              <a:rPr sz="2400" b="1">
                <a:solidFill>
                  <a:srgbClr val="FBE4E0"/>
                </a:solidFill>
              </a:rPr>
              <a:t>71.3%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6C6CB-E647-49AB-9EB2-BF1A70DC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7680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CBC8"/>
                </a:solidFill>
              </a:defRPr>
            </a:pPr>
            <a:r>
              <a:rPr sz="1050" b="1">
                <a:solidFill>
                  <a:srgbClr val="B8CBC8"/>
                </a:solidFill>
              </a:rPr>
              <a:t>crack recall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148201-441B-4B1C-8DA3-3A5C947F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3880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8CBC8"/>
                </a:solidFill>
              </a:defRPr>
            </a:pPr>
            <a:r>
              <a:rPr sz="1050" b="0">
                <a:solidFill>
                  <a:srgbClr val="B8CBC8"/>
                </a:solidFill>
              </a:rPr>
              <a:t>张清波 · 汤家齐 · 吕绍康</a:t>
            </a:r>
          </a:p>
        </p:txBody>
      </p:sp>
    </p:spTree>
    <p:extLst>
      <p:ext uri="{BB962C8B-B14F-4D97-AF65-F5344CB8AC3E}">
        <p14:creationId xmlns:p14="http://schemas.microsoft.com/office/powerpoint/2010/main" val="20081764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A87CD96-53C4-4DAB-9F76-4D310B21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7C78"/>
                </a:solidFill>
              </a:defRPr>
            </a:pPr>
            <a:r>
              <a:rPr sz="1125" b="1">
                <a:solidFill>
                  <a:srgbClr val="0D7C78"/>
                </a:solidFill>
              </a:rPr>
              <a:t>02 · 数据与代码证据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178F7-EF58-453E-A824-59D5595A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3336"/>
                </a:solidFill>
              </a:defRPr>
            </a:pPr>
            <a:r>
              <a:rPr sz="2850" b="1">
                <a:solidFill>
                  <a:srgbClr val="173336"/>
                </a:solidFill>
              </a:rPr>
              <a:t>数据、划分和 shape 都能逐项追溯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A2DA1E-9426-463D-94C0-AF92FEFB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123950" cy="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0D7C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6CB69C-10AA-492D-B557-8BD17853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D7C78"/>
                </a:solidFill>
              </a:defRPr>
            </a:pPr>
            <a:r>
              <a:rPr sz="2250" b="1">
                <a:solidFill>
                  <a:srgbClr val="0D7C78"/>
                </a:solidFill>
              </a:rPr>
              <a:t>40,000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17FCC1-4463-4D13-BC0E-FDFA7A9A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7773"/>
                </a:solidFill>
              </a:defRPr>
            </a:pPr>
            <a:r>
              <a:rPr sz="1050" b="1">
                <a:solidFill>
                  <a:srgbClr val="637773"/>
                </a:solidFill>
              </a:rPr>
              <a:t>Positive / Negative 各 20,000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40C3C5-4BB8-445C-AF7D-76AA014A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CE6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35D1E7-4511-4593-A23E-0638375D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764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B6EA8"/>
                </a:solidFill>
              </a:defRPr>
            </a:pPr>
            <a:r>
              <a:rPr sz="2250" b="1">
                <a:solidFill>
                  <a:srgbClr val="3B6EA8"/>
                </a:solidFill>
              </a:rPr>
              <a:t>1,200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90F77E-5FB0-4180-B3B1-EC68D23EB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764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7773"/>
                </a:solidFill>
              </a:defRPr>
            </a:pPr>
            <a:r>
              <a:rPr sz="1050" b="1">
                <a:solidFill>
                  <a:srgbClr val="637773"/>
                </a:solidFill>
              </a:rPr>
              <a:t>每类 600 · seed=2026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483171-A25D-4C28-A59F-1EE5F62B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752600"/>
            <a:ext cx="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CE6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C165A8-3ED2-44F1-88A1-E7A02A78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764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97A24"/>
                </a:solidFill>
              </a:defRPr>
            </a:pPr>
            <a:r>
              <a:rPr sz="2250" b="1">
                <a:solidFill>
                  <a:srgbClr val="C97A24"/>
                </a:solidFill>
              </a:rPr>
              <a:t>900 / 300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5D3D81-D103-4042-8F98-BA2AD267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0764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7773"/>
                </a:solidFill>
              </a:defRPr>
            </a:pPr>
            <a:r>
              <a:rPr sz="1050" b="1">
                <a:solidFill>
                  <a:srgbClr val="637773"/>
                </a:solidFill>
              </a:rPr>
              <a:t>分层训练 / 测试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5D082E-0E02-45D6-B8D1-994C33D1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752600"/>
            <a:ext cx="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CE6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40D3C1-1891-4B47-BE00-65F9F6BA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764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E5D55"/>
                </a:solidFill>
              </a:defRPr>
            </a:pPr>
            <a:r>
              <a:rPr sz="2250" b="1">
                <a:solidFill>
                  <a:srgbClr val="BE5D55"/>
                </a:solidFill>
              </a:rPr>
              <a:t>3 /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30490E-EC6D-4381-B45E-CC9B10E3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7773"/>
                </a:solidFill>
              </a:defRPr>
            </a:pPr>
            <a:r>
              <a:rPr sz="1050" b="1">
                <a:solidFill>
                  <a:srgbClr val="637773"/>
                </a:solidFill>
              </a:rPr>
              <a:t>逻辑测试通过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9C71FD-27A0-4A6F-84DF-52B8705A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953000" cy="26289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173336"/>
          </a:solidFill>
          <a:ln xmlns:a="http://schemas.openxmlformats.org/drawingml/2006/main" w="9525">
            <a:solidFill>
              <a:srgbClr val="17333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5AB321-8582-4572-AACE-D105BA1B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0D6"/>
                </a:solidFill>
              </a:defRPr>
            </a:pPr>
            <a:r>
              <a:rPr sz="1200" b="1">
                <a:solidFill>
                  <a:srgbClr val="FFF0D6"/>
                </a:solidFill>
              </a:rPr>
              <a:t>真实运行输出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8AC694-49AB-4778-BA83-7A23894F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81350"/>
            <a:ext cx="42862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&gt; python train.py --check-data</a:t>
            </a:r>
          </a:p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REAL DATA CHECK PASSED</a:t>
            </a:r>
          </a:p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Negative=20,000  Positive=20,000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&gt; python -m unittest discover -s tests -v</a:t>
            </a:r>
          </a:p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Ran 3 tests  ·  OK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BBC4BE-CBB0-459A-A947-3F253FCE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1490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8CBC8"/>
                </a:solidFill>
              </a:defRPr>
            </a:pPr>
            <a:r>
              <a:rPr sz="1050" b="0">
                <a:solidFill>
                  <a:srgbClr val="B8CBC8"/>
                </a:solidFill>
              </a:rPr>
              <a:t>数据检查证明输入契约；单元测试只证明接口。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1744B2-54F6-4A31-B274-174DE054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47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7C78"/>
                </a:solidFill>
              </a:defRPr>
            </a:pPr>
            <a:r>
              <a:rPr sz="1350" b="1">
                <a:solidFill>
                  <a:srgbClr val="0D7C78"/>
                </a:solidFill>
              </a:rPr>
              <a:t>SmallCNN shape 路线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6F8738-2910-4435-89F6-B4869F18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D7C7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7AE14F-5FD2-4485-8FF1-DCD5945D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67050"/>
            <a:ext cx="47625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D9EFEA"/>
          </a:solidFill>
          <a:ln xmlns:a="http://schemas.openxmlformats.org/drawingml/2006/main" w="9525">
            <a:solidFill>
              <a:srgbClr val="DCE6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AEACAC-8609-4714-8CE1-D4D9615F4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051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37773"/>
                </a:solidFill>
              </a:defRPr>
            </a:pPr>
            <a:r>
              <a:rPr sz="1200" b="1">
                <a:solidFill>
                  <a:srgbClr val="637773"/>
                </a:solidFill>
              </a:rPr>
              <a:t>输入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49286E-EBE3-4C42-BC4A-729026A3E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1051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173336"/>
                </a:solidFill>
              </a:defRPr>
            </a:pPr>
            <a:r>
              <a:rPr sz="1500" b="1">
                <a:solidFill>
                  <a:srgbClr val="173336"/>
                </a:solidFill>
              </a:rPr>
              <a:t>3×64×64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F38166-9A6F-4ECD-BE68-922A1BA1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00525"/>
            <a:ext cx="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D7C7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8C4E71-DDE7-4CF3-A22D-836A6469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76650"/>
            <a:ext cx="47625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4EDF8"/>
          </a:solidFill>
          <a:ln xmlns:a="http://schemas.openxmlformats.org/drawingml/2006/main" w="9525">
            <a:solidFill>
              <a:srgbClr val="DCE6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6D3C16-FA46-49FB-92D4-3F246038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147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37773"/>
                </a:solidFill>
              </a:defRPr>
            </a:pPr>
            <a:r>
              <a:rPr sz="1200" b="1">
                <a:solidFill>
                  <a:srgbClr val="637773"/>
                </a:solidFill>
              </a:rPr>
              <a:t>两段卷积池化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AD22C1-C2CD-41ED-971A-8AE472F4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7147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173336"/>
                </a:solidFill>
              </a:defRPr>
            </a:pPr>
            <a:r>
              <a:rPr sz="1500" b="1">
                <a:solidFill>
                  <a:srgbClr val="173336"/>
                </a:solidFill>
              </a:rPr>
              <a:t>16×16×16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CC6350-2946-4AAA-978E-605EA431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10125"/>
            <a:ext cx="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D7C7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104648-87A8-4E48-8A8B-183DF0D4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286250"/>
            <a:ext cx="47625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0D6"/>
          </a:solidFill>
          <a:ln xmlns:a="http://schemas.openxmlformats.org/drawingml/2006/main" w="9525">
            <a:solidFill>
              <a:srgbClr val="DCE6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6E7987-8E6B-430B-A291-8F95A0E1C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243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37773"/>
                </a:solidFill>
              </a:defRPr>
            </a:pPr>
            <a:r>
              <a:rPr sz="1200" b="1">
                <a:solidFill>
                  <a:srgbClr val="637773"/>
                </a:solidFill>
              </a:rPr>
              <a:t>Flatten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8C9AF9-0182-415B-A825-7BF1B4B0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3243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173336"/>
                </a:solidFill>
              </a:defRPr>
            </a:pPr>
            <a:r>
              <a:rPr sz="1500" b="1">
                <a:solidFill>
                  <a:srgbClr val="173336"/>
                </a:solidFill>
              </a:rPr>
              <a:t>4096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3B2648-B5E5-4EB8-B865-FD6ABEBC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95850"/>
            <a:ext cx="47625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BE4E0"/>
          </a:solidFill>
          <a:ln xmlns:a="http://schemas.openxmlformats.org/drawingml/2006/main" w="9525">
            <a:solidFill>
              <a:srgbClr val="DCE6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47F4EA-48A8-4630-9487-E5677A65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9339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37773"/>
                </a:solidFill>
              </a:defRPr>
            </a:pPr>
            <a:r>
              <a:rPr sz="1200" b="1">
                <a:solidFill>
                  <a:srgbClr val="637773"/>
                </a:solidFill>
              </a:rPr>
              <a:t>Linear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BA3CD0-4352-4E7C-8B5F-5B77429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33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173336"/>
                </a:solidFill>
              </a:defRPr>
            </a:pPr>
            <a:r>
              <a:rPr sz="1500" b="1">
                <a:solidFill>
                  <a:srgbClr val="173336"/>
                </a:solidFill>
              </a:rPr>
              <a:t>2 logits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FBE45F4-B123-4831-81CE-2F174043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5816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773"/>
                </a:solidFill>
              </a:defRPr>
            </a:pPr>
            <a:r>
              <a:rPr sz="1125" b="0">
                <a:solidFill>
                  <a:srgbClr val="637773"/>
                </a:solidFill>
              </a:rPr>
              <a:t>CrossEntropyLoss 直接接收 logits；argmax 尚未按漏检成本调阈值。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BB3F8B-83CF-4483-A867-4A527655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37773"/>
                </a:solidFill>
              </a:defRPr>
            </a:pPr>
            <a:r>
              <a:rPr sz="750" b="0">
                <a:solidFill>
                  <a:srgbClr val="637773"/>
                </a:solidFill>
              </a:rPr>
              <a:t>DAY 2 · DATA + CODE TRACE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4BD17E-EEC4-4F40-AF85-E9455F40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86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37773"/>
                </a:solidFill>
              </a:defRPr>
            </a:pPr>
            <a:r>
              <a:rPr sz="750" b="0">
                <a:solidFill>
                  <a:srgbClr val="637773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8228314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42D5E3F-F054-41F7-98F5-7BC2594D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7C78"/>
                </a:solidFill>
              </a:defRPr>
            </a:pPr>
            <a:r>
              <a:rPr sz="1125" b="1">
                <a:solidFill>
                  <a:srgbClr val="0D7C78"/>
                </a:solidFill>
              </a:rPr>
              <a:t>03 · 同条件结果与真实错误图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4A5701-5BCA-4F75-8BFC-95D58324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3336"/>
                </a:solidFill>
              </a:defRPr>
            </a:pPr>
            <a:r>
              <a:rPr sz="2850" b="1">
                <a:solidFill>
                  <a:srgbClr val="173336"/>
                </a:solidFill>
              </a:rPr>
              <a:t>CNN 减少误报，但没有保住筛查召回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C703E4-54ED-4BEE-809A-2D70EC8A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123950" cy="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0D7C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0CF56E-7C9D-4C75-BC6B-24D3B865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3336"/>
                </a:solidFill>
              </a:defRPr>
            </a:pPr>
            <a:r>
              <a:rPr sz="1500" b="1">
                <a:solidFill>
                  <a:srgbClr val="173336"/>
                </a:solidFill>
              </a:rPr>
              <a:t>多数类基线：全部判 crack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2163DC-F53A-4C3E-A918-21B7ACCD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9812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37773"/>
                </a:solidFill>
              </a:defRPr>
            </a:pPr>
            <a:r>
              <a:rPr sz="825" b="1">
                <a:solidFill>
                  <a:srgbClr val="637773"/>
                </a:solidFill>
              </a:rPr>
              <a:t>预测 no_crack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323103-F581-44B3-8441-D5384405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9812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37773"/>
                </a:solidFill>
              </a:defRPr>
            </a:pPr>
            <a:r>
              <a:rPr sz="825" b="1">
                <a:solidFill>
                  <a:srgbClr val="637773"/>
                </a:solidFill>
              </a:rPr>
              <a:t>预测 crack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69F7B-642E-4D05-8A07-01B862C1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773"/>
                </a:solidFill>
              </a:defRPr>
            </a:pPr>
            <a:r>
              <a:rPr sz="825" b="1">
                <a:solidFill>
                  <a:srgbClr val="637773"/>
                </a:solidFill>
              </a:rPr>
              <a:t>真实 no_crack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23E663-507C-4A9E-B72D-B23D8AFA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773"/>
                </a:solidFill>
              </a:defRPr>
            </a:pPr>
            <a:r>
              <a:rPr sz="825" b="1">
                <a:solidFill>
                  <a:srgbClr val="637773"/>
                </a:solidFill>
              </a:rPr>
              <a:t>真实 crack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9C43E3-B666-468C-9EA9-7146FA55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228850"/>
            <a:ext cx="11049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9EFEA"/>
          </a:solidFill>
          <a:ln xmlns:a="http://schemas.openxmlformats.org/drawingml/2006/main" w="9525">
            <a:solidFill>
              <a:srgbClr val="DCE6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90A40E-3B5D-4AEC-9E3F-88CDDF3D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276475"/>
            <a:ext cx="1104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336"/>
                </a:solidFill>
              </a:defRPr>
            </a:pPr>
            <a:r>
              <a:rPr sz="1350" b="1">
                <a:solidFill>
                  <a:srgbClr val="173336"/>
                </a:solidFill>
              </a:rPr>
              <a:t>TN 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60C26B-C4EF-473D-A5D4-8971AFFC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228850"/>
            <a:ext cx="11049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D6"/>
          </a:solidFill>
          <a:ln xmlns:a="http://schemas.openxmlformats.org/drawingml/2006/main" w="9525">
            <a:solidFill>
              <a:srgbClr val="DCE6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21ADD-280F-4B32-BD8F-B8ABF979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276475"/>
            <a:ext cx="1104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336"/>
                </a:solidFill>
              </a:defRPr>
            </a:pPr>
            <a:r>
              <a:rPr sz="1350" b="1">
                <a:solidFill>
                  <a:srgbClr val="173336"/>
                </a:solidFill>
              </a:rPr>
              <a:t>FP  150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7B17F-F505-49F1-925A-F2A76632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895600"/>
            <a:ext cx="11049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BE4E0"/>
          </a:solidFill>
          <a:ln xmlns:a="http://schemas.openxmlformats.org/drawingml/2006/main" w="9525">
            <a:solidFill>
              <a:srgbClr val="BE5D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235158-09E8-477C-8ACF-03BBD548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943225"/>
            <a:ext cx="1104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E5D55"/>
                </a:solidFill>
              </a:defRPr>
            </a:pPr>
            <a:r>
              <a:rPr sz="1350" b="1">
                <a:solidFill>
                  <a:srgbClr val="BE5D55"/>
                </a:solidFill>
              </a:rPr>
              <a:t>FN  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F6E44F-AB6E-4A7B-9864-91B42A78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895600"/>
            <a:ext cx="11049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9EFEA"/>
          </a:solidFill>
          <a:ln xmlns:a="http://schemas.openxmlformats.org/drawingml/2006/main" w="9525">
            <a:solidFill>
              <a:srgbClr val="DCE6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E0793B-AD28-47C2-BDEC-7FA11793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943225"/>
            <a:ext cx="1104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336"/>
                </a:solidFill>
              </a:defRPr>
            </a:pPr>
            <a:r>
              <a:rPr sz="1350" b="1">
                <a:solidFill>
                  <a:srgbClr val="173336"/>
                </a:solidFill>
              </a:rPr>
              <a:t>TP  150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0A0373-4B03-4C1B-A4A1-076A9F7F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0D7C7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56AEB6-FE3C-4AE9-AC58-D7FB900BA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3336"/>
                </a:solidFill>
              </a:defRPr>
            </a:pPr>
            <a:r>
              <a:rPr sz="1500" b="1">
                <a:solidFill>
                  <a:srgbClr val="173336"/>
                </a:solidFill>
              </a:rPr>
              <a:t>SmallCNN：更精准但有漏检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B2815C-D100-4B1A-A28F-5A94EF70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0052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37773"/>
                </a:solidFill>
              </a:defRPr>
            </a:pPr>
            <a:r>
              <a:rPr sz="825" b="1">
                <a:solidFill>
                  <a:srgbClr val="637773"/>
                </a:solidFill>
              </a:rPr>
              <a:t>预测 no_crack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799D24-5373-4EAE-A1A3-CA794D0C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20052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37773"/>
                </a:solidFill>
              </a:defRPr>
            </a:pPr>
            <a:r>
              <a:rPr sz="825" b="1">
                <a:solidFill>
                  <a:srgbClr val="637773"/>
                </a:solidFill>
              </a:rPr>
              <a:t>预测 crack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D93427-CBAA-4B90-93C8-887F7364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767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773"/>
                </a:solidFill>
              </a:defRPr>
            </a:pPr>
            <a:r>
              <a:rPr sz="825" b="1">
                <a:solidFill>
                  <a:srgbClr val="637773"/>
                </a:solidFill>
              </a:rPr>
              <a:t>真实 no_crack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FC3A87-52B3-4043-A5DE-33B79F2E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35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773"/>
                </a:solidFill>
              </a:defRPr>
            </a:pPr>
            <a:r>
              <a:rPr sz="825" b="1">
                <a:solidFill>
                  <a:srgbClr val="637773"/>
                </a:solidFill>
              </a:rPr>
              <a:t>真实 crack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1356D5-43CF-4FED-8CBE-328B720D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448175"/>
            <a:ext cx="11049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9EFEA"/>
          </a:solidFill>
          <a:ln xmlns:a="http://schemas.openxmlformats.org/drawingml/2006/main" w="9525">
            <a:solidFill>
              <a:srgbClr val="DCE6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4C7397-B5B9-4C1C-A410-9815DD9D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495800"/>
            <a:ext cx="1104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336"/>
                </a:solidFill>
              </a:defRPr>
            </a:pPr>
            <a:r>
              <a:rPr sz="1350" b="1">
                <a:solidFill>
                  <a:srgbClr val="173336"/>
                </a:solidFill>
              </a:rPr>
              <a:t>TN  137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ACEA67-C770-45B6-A305-5E9FA59F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448175"/>
            <a:ext cx="11049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D6"/>
          </a:solidFill>
          <a:ln xmlns:a="http://schemas.openxmlformats.org/drawingml/2006/main" w="9525">
            <a:solidFill>
              <a:srgbClr val="DCE6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204D06-67D0-412A-B129-2B9A401B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495800"/>
            <a:ext cx="1104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336"/>
                </a:solidFill>
              </a:defRPr>
            </a:pPr>
            <a:r>
              <a:rPr sz="1350" b="1">
                <a:solidFill>
                  <a:srgbClr val="173336"/>
                </a:solidFill>
              </a:rPr>
              <a:t>FP  13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79376C-5013-4BF1-97E4-AC2D9F78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114925"/>
            <a:ext cx="11049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BE4E0"/>
          </a:solidFill>
          <a:ln xmlns:a="http://schemas.openxmlformats.org/drawingml/2006/main" w="9525">
            <a:solidFill>
              <a:srgbClr val="BE5D5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DF5038-F997-449E-BC97-1152E7AA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162550"/>
            <a:ext cx="1104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E5D55"/>
                </a:solidFill>
              </a:defRPr>
            </a:pPr>
            <a:r>
              <a:rPr sz="1350" b="1">
                <a:solidFill>
                  <a:srgbClr val="BE5D55"/>
                </a:solidFill>
              </a:rPr>
              <a:t>FN  43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6E9127-C143-45C8-8A65-F3FE2E3E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114925"/>
            <a:ext cx="11049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9EFEA"/>
          </a:solidFill>
          <a:ln xmlns:a="http://schemas.openxmlformats.org/drawingml/2006/main" w="9525">
            <a:solidFill>
              <a:srgbClr val="DCE6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EFAF87-C936-4110-B77B-B0DEF15C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162550"/>
            <a:ext cx="1104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336"/>
                </a:solidFill>
              </a:defRPr>
            </a:pPr>
            <a:r>
              <a:rPr sz="1350" b="1">
                <a:solidFill>
                  <a:srgbClr val="173336"/>
                </a:solidFill>
              </a:rPr>
              <a:t>TP  107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3A1C22-8971-4D2B-AA05-2F3F12EBB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B6EA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49B4D6-B4E2-46C1-989E-98E3D087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657350"/>
            <a:ext cx="6629400" cy="3733800"/>
          </a:xfrm>
          <a:prstGeom xmlns:a="http://schemas.openxmlformats.org/drawingml/2006/main" prst="roundRect">
            <a:avLst>
              <a:gd name="adj" fmla="val 306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DCE6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0CBF1E-2055-4B76-BD21-47D8AB78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7907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C78"/>
                </a:solidFill>
              </a:defRPr>
            </a:pPr>
            <a:r>
              <a:rPr sz="1200" b="1">
                <a:solidFill>
                  <a:srgbClr val="0D7C78"/>
                </a:solidFill>
              </a:rPr>
              <a:t>程序生成的 cnn-errors.png（前 6 个错误）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ae22ec0ecb4fc3"/>
          <a:stretch xmlns:a="http://schemas.openxmlformats.org/drawingml/2006/main"/>
        </p:blipFill>
        <p:spPr>
          <a:xfrm xmlns:a="http://schemas.openxmlformats.org/drawingml/2006/main">
            <a:off x="5876925" y="2152650"/>
            <a:ext cx="4629150" cy="3086100"/>
          </a:xfrm>
          <a:prstGeom xmlns:a="http://schemas.openxmlformats.org/drawingml/2006/main" prst="roundRect">
            <a:avLst>
              <a:gd name="adj" fmla="val 3704"/>
            </a:avLst>
          </a:prstGeom>
        </p:spPr>
      </p:pic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1E1B12-7EA0-4B34-95B7-6EF202FF6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62600"/>
            <a:ext cx="66294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E4E0"/>
          </a:solidFill>
          <a:ln xmlns:a="http://schemas.openxmlformats.org/drawingml/2006/main" w="9525">
            <a:solidFill>
              <a:srgbClr val="BE5D5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8FD669-6F9D-447B-AFD9-6E9BBDB54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638800"/>
            <a:ext cx="609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336"/>
                </a:solidFill>
              </a:defRPr>
            </a:pPr>
            <a:r>
              <a:rPr sz="1350" b="1">
                <a:solidFill>
                  <a:srgbClr val="173336"/>
                </a:solidFill>
              </a:rPr>
              <a:t>Accuracy 50.0% → 81.3%    FP 150 → 13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DC53E0-B8A1-4070-9CA2-3A3B8F4E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9055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E5D55"/>
                </a:solidFill>
              </a:defRPr>
            </a:pPr>
            <a:r>
              <a:rPr sz="1275" b="1">
                <a:solidFill>
                  <a:srgbClr val="BE5D55"/>
                </a:solidFill>
              </a:rPr>
              <a:t>但 recall 100.0% → 71.3%，出现 43 个 FN。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36EBA5-F848-4D1C-B31A-DB1C96B7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37773"/>
                </a:solidFill>
              </a:defRPr>
            </a:pPr>
            <a:r>
              <a:rPr sz="750" b="0">
                <a:solidFill>
                  <a:srgbClr val="637773"/>
                </a:solidFill>
              </a:rPr>
              <a:t>DAY 2 · CONFUSION + ERROR MONTAGE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7431BA6-6944-453F-B149-CA13FA72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86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37773"/>
                </a:solidFill>
              </a:defRPr>
            </a:pPr>
            <a:r>
              <a:rPr sz="750" b="0">
                <a:solidFill>
                  <a:srgbClr val="637773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827220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33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15907E-E839-4E45-A1E1-00C0C28A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0D6"/>
                </a:solidFill>
              </a:defRPr>
            </a:pPr>
            <a:r>
              <a:rPr sz="1125" b="1">
                <a:solidFill>
                  <a:srgbClr val="FFF0D6"/>
                </a:solidFill>
              </a:rPr>
              <a:t>04 · 真实失败、差异与边界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3A48D9-FF4D-4C81-A7B7-88ACE264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肉眼明显的裂纹仍会漏检，证据必须比结论更硬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CECBCD-3199-4366-B9EC-B3D179CD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123950" cy="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C97A24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54072f65c3468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714500"/>
            <a:ext cx="3143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C8BCDE-FF1D-440F-82F3-B2536E0B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0D6"/>
                </a:solidFill>
              </a:defRPr>
            </a:pPr>
            <a:r>
              <a:rPr sz="1275" b="1">
                <a:solidFill>
                  <a:srgbClr val="FFF0D6"/>
                </a:solidFill>
              </a:rPr>
              <a:t>Positive / 09570.jpg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E8AED5-7684-4F36-9EE8-5EC189A1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真值 crack · 预测 no_crack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230CE0-2757-442E-9049-8D5FE3D7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0D6"/>
                </a:solidFill>
              </a:defRPr>
            </a:pPr>
            <a:r>
              <a:rPr sz="1200" b="1">
                <a:solidFill>
                  <a:srgbClr val="FFF0D6"/>
                </a:solidFill>
              </a:rPr>
              <a:t>可观察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FA2F98-337C-4959-9374-A66BF73F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1930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EFEA"/>
                </a:solidFill>
              </a:defRPr>
            </a:pPr>
            <a:r>
              <a:rPr sz="1650" b="1">
                <a:solidFill>
                  <a:srgbClr val="D9EFEA"/>
                </a:solidFill>
              </a:rPr>
              <a:t>深色、连续、弯折，和浅灰背景对比明显。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6B118C-4CCE-472C-81F8-FD0D09AF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051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BE4E0"/>
                </a:solidFill>
              </a:defRPr>
            </a:pPr>
            <a:r>
              <a:rPr sz="1200" b="1">
                <a:solidFill>
                  <a:srgbClr val="FBE4E0"/>
                </a:solidFill>
              </a:rPr>
              <a:t>不能推断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7EE11D-D2B0-4C9F-88C2-AE916442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28950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7D8D5"/>
                </a:solidFill>
              </a:defRPr>
            </a:pPr>
            <a:r>
              <a:rPr sz="1350" b="0">
                <a:solidFill>
                  <a:srgbClr val="C7D8D5"/>
                </a:solidFill>
              </a:rPr>
              <a:t>单张图不能证明欠训练、纹理或位置是根因；这些只能作为待验证假设。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2ED1DE-0FA1-48AB-9838-69A10F88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29050"/>
            <a:ext cx="66675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E6E6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DA5FFD-5BA6-404A-8DBF-557819C0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195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97A24"/>
                </a:solidFill>
              </a:defRPr>
            </a:pPr>
            <a:r>
              <a:rPr sz="1425" b="1">
                <a:solidFill>
                  <a:srgbClr val="C97A24"/>
                </a:solidFill>
              </a:rPr>
              <a:t>相对“学生学习教练”的差异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7CB485-3FD9-4C77-8AC5-82B9758A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62450"/>
            <a:ext cx="666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教练：一次一步、不给讲稿/答案、数据缺失就停止。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本套：把公式、代码、真实矩阵、错误图和 40+ 追问整合成可答辩证据链。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1A71B4-06AB-4871-8941-34AF5941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257800"/>
            <a:ext cx="666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EFEA"/>
                </a:solidFill>
              </a:defRPr>
            </a:pPr>
            <a:r>
              <a:rPr sz="1275" b="1">
                <a:solidFill>
                  <a:srgbClr val="D9EFEA"/>
                </a:solidFill>
              </a:rPr>
              <a:t>差异怎么得出：对照 SKILL.md 边界 + train.py 实现 + 真实 runs；深度更高，但不降低证据标准。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6EF812-324B-4A3A-9849-4E6659F1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08204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FBE4E0"/>
          </a:solidFill>
          <a:ln xmlns:a="http://schemas.openxmlformats.org/drawingml/2006/main" w="9525">
            <a:solidFill>
              <a:srgbClr val="BE5D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9E66E8-315A-42CD-8F76-8ACC123B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10275"/>
            <a:ext cx="1043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3336"/>
                </a:solidFill>
              </a:defRPr>
            </a:pPr>
            <a:r>
              <a:rPr sz="1275" b="1">
                <a:solidFill>
                  <a:srgbClr val="173336"/>
                </a:solidFill>
              </a:rPr>
              <a:t>下一步：训练段内建验证集，用 recall 选择 epoch / 权重 / 阈值；输出只进人工复核，不能替代工程师。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33D30F-B865-4572-A9F2-26740442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B2AF"/>
                </a:solidFill>
              </a:defRPr>
            </a:pPr>
            <a:r>
              <a:rPr sz="750" b="0">
                <a:solidFill>
                  <a:srgbClr val="9CB2AF"/>
                </a:solidFill>
              </a:rPr>
              <a:t>DAY 2 · FAILURE + EVIDENCE BOUNDARY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41A562-CAF4-4DF7-B619-0C60C16BE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86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CB2AF"/>
                </a:solidFill>
              </a:defRPr>
            </a:pPr>
            <a:r>
              <a:rPr sz="750" b="0">
                <a:solidFill>
                  <a:srgbClr val="9CB2AF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0951464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2026-08-20T09:28:20.1000000Z</dcterms:created>
  <dcterms:modified xsi:type="dcterms:W3CDTF">2026-08-20T09:28:20.1000000Z</dcterms:modified>
</coreProperties>
</file>